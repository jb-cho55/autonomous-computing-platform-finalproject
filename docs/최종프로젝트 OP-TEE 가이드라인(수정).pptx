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14"/>
  </p:notesMasterIdLst>
  <p:sldIdLst>
    <p:sldId id="1782" r:id="rId2"/>
    <p:sldId id="1784" r:id="rId3"/>
    <p:sldId id="1773" r:id="rId4"/>
    <p:sldId id="1774" r:id="rId5"/>
    <p:sldId id="1775" r:id="rId6"/>
    <p:sldId id="1776" r:id="rId7"/>
    <p:sldId id="1777" r:id="rId8"/>
    <p:sldId id="1778" r:id="rId9"/>
    <p:sldId id="1779" r:id="rId10"/>
    <p:sldId id="1780" r:id="rId11"/>
    <p:sldId id="1783" r:id="rId12"/>
    <p:sldId id="1781" r:id="rId13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BE20"/>
    <a:srgbClr val="00B050"/>
    <a:srgbClr val="FFFFFF"/>
    <a:srgbClr val="FFC000"/>
    <a:srgbClr val="DCDCAA"/>
    <a:srgbClr val="FFF2CC"/>
    <a:srgbClr val="1E0737"/>
    <a:srgbClr val="0641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04"/>
      </p:cViewPr>
      <p:guideLst>
        <p:guide orient="horz" pos="215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48" tIns="49524" rIns="99048" bIns="49524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48" tIns="49524" rIns="99048" bIns="49524"/>
          <a:lstStyle>
            <a:lvl1pPr algn="r">
              <a:defRPr sz="1300"/>
            </a:lvl1pPr>
          </a:lstStyle>
          <a:p>
            <a:pPr lvl="0">
              <a:defRPr/>
            </a:pPr>
            <a:fld id="{1EE58BA0-99CC-4A05-8840-957D99EE7CC8}" type="datetime1">
              <a:rPr lang="ko-KR" altLang="en-US"/>
              <a:pPr lvl="0">
                <a:defRPr/>
              </a:pPr>
              <a:t>2025-05-27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48" tIns="49524" rIns="99048" bIns="49524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8"/>
            <a:ext cx="3078427" cy="513507"/>
          </a:xfrm>
          <a:prstGeom prst="rect">
            <a:avLst/>
          </a:prstGeom>
        </p:spPr>
        <p:txBody>
          <a:bodyPr vert="horz" lIns="99048" tIns="49524" rIns="99048" bIns="49524" anchor="b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8"/>
            <a:ext cx="3078427" cy="513507"/>
          </a:xfrm>
          <a:prstGeom prst="rect">
            <a:avLst/>
          </a:prstGeom>
        </p:spPr>
        <p:txBody>
          <a:bodyPr vert="horz" lIns="99048" tIns="49524" rIns="99048" bIns="49524" anchor="b"/>
          <a:lstStyle>
            <a:lvl1pPr algn="r">
              <a:defRPr sz="1300"/>
            </a:lvl1pPr>
          </a:lstStyle>
          <a:p>
            <a:pPr lvl="0">
              <a:defRPr/>
            </a:pPr>
            <a:fld id="{979CD858-6556-4886-9903-45E9B7BDF70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D8011-318F-AF0E-0FA4-23C1D9AB9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554ECA-8A5E-CBF5-0644-8710F1024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D9F607-FBC6-5477-727F-49B7C3441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5F9B6A-DE35-0DF6-54B2-30688CD8BF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9CD858-6556-4886-9903-45E9B7BDF70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839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F184591-6BBF-4740-BA7D-5D01120834FA}"/>
              </a:ext>
            </a:extLst>
          </p:cNvPr>
          <p:cNvSpPr/>
          <p:nvPr userDrawn="1"/>
        </p:nvSpPr>
        <p:spPr>
          <a:xfrm>
            <a:off x="152400" y="152401"/>
            <a:ext cx="11875911" cy="6547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B5012-A287-4018-A514-B24F41023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857993-A09A-4126-9EDC-8B0DFF245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3989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F9E4A0D-49C2-42B0-A6FA-716E3679A5EC}"/>
              </a:ext>
            </a:extLst>
          </p:cNvPr>
          <p:cNvSpPr/>
          <p:nvPr userDrawn="1"/>
        </p:nvSpPr>
        <p:spPr>
          <a:xfrm>
            <a:off x="0" y="1"/>
            <a:ext cx="12192000" cy="8790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85F8DE87-3981-4835-BA81-7516A4F68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21" y="66261"/>
            <a:ext cx="11525958" cy="759791"/>
          </a:xfrm>
        </p:spPr>
        <p:txBody>
          <a:bodyPr>
            <a:normAutofit/>
          </a:bodyPr>
          <a:lstStyle>
            <a:lvl1pPr>
              <a:defRPr sz="3600" b="1"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05A49C19-B60A-4383-8613-4E3311132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021" y="1015999"/>
            <a:ext cx="11525958" cy="5628211"/>
          </a:xfrm>
        </p:spPr>
        <p:txBody>
          <a:bodyPr/>
          <a:lstStyle>
            <a:lvl2pPr marL="685800" indent="-228600">
              <a:buFont typeface="맑은 고딕" panose="020B0503020000020004" pitchFamily="50" charset="-127"/>
              <a:buChar char="–"/>
              <a:defRPr/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10760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A317B9-517E-4B88-8090-98A079B5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48D0B9-C08E-4607-BA41-75748F642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1B6032-E91C-4A61-996B-228013A40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F312F5-2EBC-4618-B7BE-9A394913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FF7AFB-AE22-43C2-9D23-0D7C4745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54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5962DF-0D26-4826-AB20-50F260685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CD4051-82D3-4F03-B01E-05BE9202B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56BFB0-3D84-4D85-A2FE-4EA4554C2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719191-139E-4BBB-A244-53732E953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CFE5A1-DD8A-4FC0-8494-80CF04265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E24850-CD82-40AC-B029-B5265ADB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76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F2DB7-A9DA-48B4-A5D5-177E997D7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B55771-C12F-4911-B6E4-281B68A79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B5015E-669A-4E10-AE7E-28DB16BCF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C12414-D000-48D4-B239-2C9838684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7F0A59-2672-4B02-81B9-F97F57573A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858005-1833-4D56-91AC-B65724215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C5BB12-7A62-4725-BAE7-0F3B13FCA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9164073-4E1C-418B-BDE8-889F642A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90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F22BC-F610-4F8B-9385-66E316079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14A4C7-C141-49E7-A1BB-2F95189D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0CD473E-42F1-4F55-915E-A3465E378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3AAA17-EB0D-4C5B-B741-721BFE78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771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EA4825-C459-4782-B844-F92EAB0E0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81FCB79-E800-479A-86F9-13637409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427B4A-C3F3-4CC8-A0CD-BF0B7588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49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78404-2048-49DA-B99B-B306800DA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ABF520-EAF7-465C-A19F-EB9F95D41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1BC155-1F4F-4193-9C31-B1AF52770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87C1A3-160A-4F01-ACAD-8B7867EAF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3617D2-5681-44C6-A5C9-F5294A100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B0E253-9CF0-4393-A633-EA111A58D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766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BAA9B8-58B1-4303-B56E-EAD463DF6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185D859-4353-4C03-AD1E-EFCBBCBD2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6E48EC-54AC-4637-BD9A-C77580232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EA293E-956A-42D1-B126-CC580F5E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86D1D6-CB8A-4708-A2AB-693A33815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2A6F2B-360B-4DF5-AD16-29DF785D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513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438EAF-CDB0-40A7-944E-3961DD1F9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7EE745-6F13-4971-AFFB-7BD8BAEBE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E1D5CD-4D74-4E7C-9CD5-F76350C5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C70AD1-8FF2-4374-9A5F-3091D7B00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9F8A54-43B2-4693-979B-0F057EEE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510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EE9C84-DA2B-441E-991D-1A3628829B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7DE432-7C65-44AA-91C5-1A7B3BCBE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9BA8DE-0E5A-4788-A828-2E847FA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40F60-B2E2-498A-83E6-63380256C8C3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83ECD5-691B-40F7-B9B4-960CA653E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7E1335-2039-44F9-BDC5-C1A39E41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718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84B4693-BA04-4F25-9EA4-8C8012C57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D3BC42-FDA3-451C-8556-4D6F0F26E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81DD2F-DA92-4141-9743-7A21783BF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40F60-B2E2-498A-83E6-63380256C8C3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5E52B4-5278-4A57-A4E5-E15BA6773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A1C925-084E-477E-88EA-A9DE8260B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EA1DF-7C12-4729-A431-0A357600F8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109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6C4CF-1E72-1ED8-3382-F8124201E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E1F705-C238-0F0C-AA5E-98A2AB938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022"/>
            <a:ext cx="12192000" cy="6832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b="1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Computing Platform for Autonomous Driving (CP4AD)</a:t>
            </a:r>
            <a:endParaRPr lang="ko-KR" altLang="en-US" sz="3200" b="1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38DCF8F8-97AE-0298-F8E8-E828EA1955FC}"/>
              </a:ext>
            </a:extLst>
          </p:cNvPr>
          <p:cNvSpPr txBox="1">
            <a:spLocks/>
          </p:cNvSpPr>
          <p:nvPr/>
        </p:nvSpPr>
        <p:spPr>
          <a:xfrm>
            <a:off x="149525" y="3466423"/>
            <a:ext cx="11892950" cy="2227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Prof. Jong-Chan Kim</a:t>
            </a:r>
          </a:p>
          <a:p>
            <a:endParaRPr lang="en-US" altLang="ko-KR" sz="800" b="1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ko-KR" sz="2800" b="1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Dept. Automobile and IT Convergence</a:t>
            </a:r>
          </a:p>
        </p:txBody>
      </p:sp>
      <p:pic>
        <p:nvPicPr>
          <p:cNvPr id="4" name="Picture 2" descr="국민대 로고에 대한 이미지 검색결과">
            <a:extLst>
              <a:ext uri="{FF2B5EF4-FFF2-40B4-BE49-F238E27FC236}">
                <a16:creationId xmlns:a16="http://schemas.microsoft.com/office/drawing/2014/main" id="{87B9C522-28DA-3552-4F43-9FA0362DF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234" y="5297119"/>
            <a:ext cx="3293532" cy="117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6D621F44-4B7C-BC79-1D70-59A2D8B9EBD7}"/>
              </a:ext>
            </a:extLst>
          </p:cNvPr>
          <p:cNvSpPr txBox="1">
            <a:spLocks/>
          </p:cNvSpPr>
          <p:nvPr/>
        </p:nvSpPr>
        <p:spPr>
          <a:xfrm>
            <a:off x="146695" y="1600833"/>
            <a:ext cx="1189209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400" b="1">
                <a:latin typeface="Tahoma" panose="020B0604030504040204" pitchFamily="34" charset="0"/>
                <a:cs typeface="Tahoma" panose="020B0604030504040204" pitchFamily="34" charset="0"/>
              </a:rPr>
              <a:t>최종프로젝트</a:t>
            </a:r>
            <a:endParaRPr lang="en-US" altLang="ko-KR" sz="44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ko-KR" sz="4400" b="1">
                <a:latin typeface="Tahoma" panose="020B0604030504040204" pitchFamily="34" charset="0"/>
                <a:cs typeface="Tahoma" panose="020B0604030504040204" pitchFamily="34" charset="0"/>
              </a:rPr>
              <a:t>OP-TEE </a:t>
            </a:r>
            <a:r>
              <a:rPr lang="ko-KR" altLang="en-US" sz="4400" b="1">
                <a:latin typeface="Tahoma" panose="020B0604030504040204" pitchFamily="34" charset="0"/>
                <a:cs typeface="Tahoma" panose="020B0604030504040204" pitchFamily="34" charset="0"/>
              </a:rPr>
              <a:t>가이드라인</a:t>
            </a:r>
            <a:endParaRPr lang="ko-KR" altLang="en-US" sz="44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780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2318E2-B37C-48B0-8A2B-63E46DDEB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수정사항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4F945E-C971-4EF4-8AE0-20E8AE20F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p. </a:t>
            </a:r>
            <a:r>
              <a:rPr lang="en-US" altLang="ko-KR" dirty="0"/>
              <a:t>3 </a:t>
            </a:r>
            <a:r>
              <a:rPr lang="ko-KR" altLang="en-US" dirty="0"/>
              <a:t>수정</a:t>
            </a:r>
            <a:endParaRPr lang="en-US" altLang="ko-KR" dirty="0"/>
          </a:p>
          <a:p>
            <a:r>
              <a:rPr lang="en-US" altLang="ko-KR" dirty="0"/>
              <a:t>p. 11 </a:t>
            </a:r>
            <a:r>
              <a:rPr lang="ko-KR" altLang="en-US" dirty="0"/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3742509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0A4E54-3121-6A55-496D-EDFE78597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Arduino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84774AC-3259-2D3A-A017-B9CEB0313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73617" y="3111625"/>
            <a:ext cx="4033755" cy="2182195"/>
          </a:xfr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4FFF5F0-29A7-84D7-023B-A0389F5F6B69}"/>
              </a:ext>
            </a:extLst>
          </p:cNvPr>
          <p:cNvSpPr txBox="1">
            <a:spLocks/>
          </p:cNvSpPr>
          <p:nvPr/>
        </p:nvSpPr>
        <p:spPr>
          <a:xfrm>
            <a:off x="333021" y="1015999"/>
            <a:ext cx="11525958" cy="5628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ko-KR" altLang="en-US" dirty="0" err="1"/>
              <a:t>아두이노에서</a:t>
            </a:r>
            <a:r>
              <a:rPr lang="ko-KR" altLang="en-US" dirty="0"/>
              <a:t> </a:t>
            </a:r>
            <a:r>
              <a:rPr lang="ko-KR" altLang="en-US" dirty="0" err="1"/>
              <a:t>대칭키</a:t>
            </a:r>
            <a:r>
              <a:rPr lang="en-US" altLang="ko-KR" dirty="0"/>
              <a:t>, </a:t>
            </a:r>
            <a:r>
              <a:rPr lang="ko-KR" altLang="en-US" dirty="0"/>
              <a:t>전자서명 함수를 사용하기 위해 해당 파일을 적절히 복사한다</a:t>
            </a:r>
            <a:r>
              <a:rPr lang="en-US" altLang="ko-KR" dirty="0"/>
              <a:t>.</a:t>
            </a:r>
          </a:p>
          <a:p>
            <a:pPr lvl="1">
              <a:buFontTx/>
              <a:buChar char="-"/>
            </a:pPr>
            <a:r>
              <a:rPr lang="en-US" altLang="ko-KR" dirty="0"/>
              <a:t>bsw_DISPLAY.cpp -&gt; DISPLAY/bsw.cpp</a:t>
            </a:r>
          </a:p>
          <a:p>
            <a:pPr lvl="1">
              <a:buFontTx/>
              <a:buChar char="-"/>
            </a:pPr>
            <a:r>
              <a:rPr lang="en-US" altLang="ko-KR" dirty="0" err="1"/>
              <a:t>bsw_DISPLAY.h</a:t>
            </a:r>
            <a:r>
              <a:rPr lang="en-US" altLang="ko-KR" dirty="0"/>
              <a:t> -&gt; DISPLAY/</a:t>
            </a:r>
            <a:r>
              <a:rPr lang="en-US" altLang="ko-KR" dirty="0" err="1"/>
              <a:t>bsw.h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en-US" altLang="ko-KR" dirty="0"/>
              <a:t>bsw_SENSOR.cpp -&gt; SENSOR/bsw.cpp</a:t>
            </a:r>
          </a:p>
          <a:p>
            <a:pPr lvl="1">
              <a:buFontTx/>
              <a:buChar char="-"/>
            </a:pPr>
            <a:r>
              <a:rPr lang="en-US" altLang="ko-KR" dirty="0" err="1"/>
              <a:t>bsw_SENSOR.h</a:t>
            </a:r>
            <a:r>
              <a:rPr lang="en-US" altLang="ko-KR" dirty="0"/>
              <a:t> -&gt; SENSOR/</a:t>
            </a:r>
            <a:r>
              <a:rPr lang="en-US" altLang="ko-KR" dirty="0" err="1"/>
              <a:t>bsw.h</a:t>
            </a:r>
            <a:endParaRPr lang="en-US" altLang="ko-KR" dirty="0"/>
          </a:p>
          <a:p>
            <a:pPr lvl="1">
              <a:buFontTx/>
              <a:buChar char="-"/>
            </a:pP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>
                <a:solidFill>
                  <a:srgbClr val="FF0000"/>
                </a:solidFill>
              </a:rPr>
              <a:t>각 </a:t>
            </a:r>
            <a:r>
              <a:rPr lang="en-US" altLang="ko-KR" dirty="0">
                <a:solidFill>
                  <a:srgbClr val="FF0000"/>
                </a:solidFill>
              </a:rPr>
              <a:t>bsw.cpp</a:t>
            </a:r>
            <a:r>
              <a:rPr lang="ko-KR" altLang="en-US" dirty="0">
                <a:solidFill>
                  <a:srgbClr val="FF0000"/>
                </a:solidFill>
              </a:rPr>
              <a:t>에 아래 두 라인 추가</a:t>
            </a:r>
            <a:endParaRPr lang="en-US" altLang="ko-KR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#define BLOCK_SIZE 5</a:t>
            </a:r>
          </a:p>
          <a:p>
            <a:pPr marL="914400" lvl="2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uint64_t key = 0xABCDE12345;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5561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A8237D-B8CD-77F3-732A-90A48CF87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Arduino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1003E9-5BE5-56E6-D599-CCF9B8FC3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2. SENSOR</a:t>
            </a:r>
          </a:p>
          <a:p>
            <a:pPr marL="0" indent="0">
              <a:buNone/>
            </a:pPr>
            <a:r>
              <a:rPr lang="en-US" altLang="ko-KR"/>
              <a:t>	- raw data</a:t>
            </a:r>
            <a:r>
              <a:rPr lang="ko-KR" altLang="en-US"/>
              <a:t>를 대칭키 알고리즘으로 암호화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encrypt() </a:t>
            </a:r>
            <a:r>
              <a:rPr lang="ko-KR" altLang="en-US"/>
              <a:t>함수를 사용하여 앞 </a:t>
            </a:r>
            <a:r>
              <a:rPr lang="en-US" altLang="ko-KR"/>
              <a:t>5</a:t>
            </a:r>
            <a:r>
              <a:rPr lang="ko-KR" altLang="en-US"/>
              <a:t>바이트 암호화</a:t>
            </a:r>
            <a:endParaRPr lang="en-US" altLang="ko-KR"/>
          </a:p>
          <a:p>
            <a:pPr marL="0" indent="0">
              <a:buNone/>
            </a:pP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424578-0C35-E886-170A-F7A8106C0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26" y="2198365"/>
            <a:ext cx="4600815" cy="48890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3CEDD12-1FB6-E032-6FC4-BBB05EB6C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645" y="3429000"/>
            <a:ext cx="5241093" cy="79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281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06C421-C8C6-53D3-85B6-31CE2DAB6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Arduino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A85E4A-E745-CED9-4F35-4A5EDF7AB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3. DISPLAY</a:t>
            </a:r>
          </a:p>
          <a:p>
            <a:pPr marL="0" indent="0">
              <a:buNone/>
            </a:pPr>
            <a:r>
              <a:rPr lang="en-US" altLang="ko-KR"/>
              <a:t>	- OP-TEE</a:t>
            </a:r>
            <a:r>
              <a:rPr lang="ko-KR" altLang="en-US"/>
              <a:t>에서 생성한 서명 검증 후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대칭키 알고리즘으로 앞 </a:t>
            </a:r>
            <a:r>
              <a:rPr lang="en-US" altLang="ko-KR"/>
              <a:t>5</a:t>
            </a:r>
            <a:r>
              <a:rPr lang="ko-KR" altLang="en-US"/>
              <a:t>바이트</a:t>
            </a:r>
            <a:r>
              <a:rPr lang="en-US" altLang="ko-KR"/>
              <a:t> </a:t>
            </a:r>
            <a:r>
              <a:rPr lang="ko-KR" altLang="en-US"/>
              <a:t>복호화</a:t>
            </a:r>
          </a:p>
        </p:txBody>
      </p:sp>
    </p:spTree>
    <p:extLst>
      <p:ext uri="{BB962C8B-B14F-4D97-AF65-F5344CB8AC3E}">
        <p14:creationId xmlns:p14="http://schemas.microsoft.com/office/powerpoint/2010/main" val="2756747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2BB3-FAE9-F5B9-80AC-1E8B658CF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E8E9E-8465-DF10-1C11-42403A2F8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Arduino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BD304C-9ACC-6826-C05C-F64989FD2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DAC1E7CF-8CED-DA1F-6FE1-6B2C907C1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909" y="826052"/>
            <a:ext cx="8808182" cy="5927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E0B5FF-61A5-B8A3-B804-71F9995FB931}"/>
              </a:ext>
            </a:extLst>
          </p:cNvPr>
          <p:cNvSpPr txBox="1"/>
          <p:nvPr/>
        </p:nvSpPr>
        <p:spPr>
          <a:xfrm>
            <a:off x="5705805" y="2507567"/>
            <a:ext cx="37613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>
                <a:solidFill>
                  <a:srgbClr val="FF0000"/>
                </a:solidFill>
              </a:rPr>
              <a:t>OP-TEE </a:t>
            </a:r>
            <a:r>
              <a:rPr lang="ko-KR" altLang="en-US" sz="1600">
                <a:solidFill>
                  <a:srgbClr val="FF0000"/>
                </a:solidFill>
              </a:rPr>
              <a:t>에서 구한 </a:t>
            </a:r>
            <a:r>
              <a:rPr lang="en-US" altLang="ko-KR" sz="1600">
                <a:solidFill>
                  <a:srgbClr val="FF0000"/>
                </a:solidFill>
              </a:rPr>
              <a:t>public_key </a:t>
            </a:r>
            <a:r>
              <a:rPr lang="ko-KR" altLang="en-US" sz="1600">
                <a:solidFill>
                  <a:srgbClr val="FF0000"/>
                </a:solidFill>
              </a:rPr>
              <a:t>하드코딩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B8470-903E-569F-826F-78D951F61515}"/>
              </a:ext>
            </a:extLst>
          </p:cNvPr>
          <p:cNvSpPr txBox="1"/>
          <p:nvPr/>
        </p:nvSpPr>
        <p:spPr>
          <a:xfrm>
            <a:off x="6314330" y="3204777"/>
            <a:ext cx="41857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>
                <a:solidFill>
                  <a:srgbClr val="FF0000"/>
                </a:solidFill>
              </a:rPr>
              <a:t>msg.buf</a:t>
            </a:r>
            <a:r>
              <a:rPr lang="ko-KR" altLang="en-US" sz="1600">
                <a:solidFill>
                  <a:srgbClr val="FF0000"/>
                </a:solidFill>
              </a:rPr>
              <a:t>의 앞 </a:t>
            </a:r>
            <a:r>
              <a:rPr lang="en-US" altLang="ko-KR" sz="1600">
                <a:solidFill>
                  <a:srgbClr val="FF0000"/>
                </a:solidFill>
              </a:rPr>
              <a:t>5</a:t>
            </a:r>
            <a:r>
              <a:rPr lang="ko-KR" altLang="en-US" sz="1600">
                <a:solidFill>
                  <a:srgbClr val="FF0000"/>
                </a:solidFill>
              </a:rPr>
              <a:t>바이트와 뒤 </a:t>
            </a:r>
            <a:r>
              <a:rPr lang="en-US" altLang="ko-KR" sz="1600">
                <a:solidFill>
                  <a:srgbClr val="FF0000"/>
                </a:solidFill>
              </a:rPr>
              <a:t>3</a:t>
            </a:r>
            <a:r>
              <a:rPr lang="ko-KR" altLang="en-US" sz="1600">
                <a:solidFill>
                  <a:srgbClr val="FF0000"/>
                </a:solidFill>
              </a:rPr>
              <a:t>바이트를 각각</a:t>
            </a:r>
            <a:endParaRPr lang="en-US" altLang="ko-KR" sz="1600">
              <a:solidFill>
                <a:srgbClr val="FF0000"/>
              </a:solidFill>
            </a:endParaRPr>
          </a:p>
          <a:p>
            <a:pPr algn="l"/>
            <a:r>
              <a:rPr lang="en-US" altLang="ko-KR" sz="1600">
                <a:solidFill>
                  <a:srgbClr val="FF0000"/>
                </a:solidFill>
              </a:rPr>
              <a:t>messagem sig</a:t>
            </a:r>
            <a:r>
              <a:rPr lang="ko-KR" altLang="en-US" sz="1600">
                <a:solidFill>
                  <a:srgbClr val="FF0000"/>
                </a:solidFill>
              </a:rPr>
              <a:t>에 복사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BDA2B9-7F90-3B6B-149C-891E5653E2C5}"/>
              </a:ext>
            </a:extLst>
          </p:cNvPr>
          <p:cNvSpPr txBox="1"/>
          <p:nvPr/>
        </p:nvSpPr>
        <p:spPr>
          <a:xfrm>
            <a:off x="5705805" y="4556546"/>
            <a:ext cx="46532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>
                <a:solidFill>
                  <a:srgbClr val="FF0000"/>
                </a:solidFill>
              </a:rPr>
              <a:t>micro_verify() </a:t>
            </a:r>
            <a:r>
              <a:rPr lang="ko-KR" altLang="en-US" sz="1600">
                <a:solidFill>
                  <a:srgbClr val="FF0000"/>
                </a:solidFill>
              </a:rPr>
              <a:t>결과</a:t>
            </a:r>
            <a:r>
              <a:rPr lang="en-US" altLang="ko-KR" sz="1600">
                <a:solidFill>
                  <a:srgbClr val="FF0000"/>
                </a:solidFill>
              </a:rPr>
              <a:t>: 1 – </a:t>
            </a:r>
            <a:r>
              <a:rPr lang="ko-KR" altLang="en-US" sz="1600">
                <a:solidFill>
                  <a:srgbClr val="FF0000"/>
                </a:solidFill>
              </a:rPr>
              <a:t>서명 유효</a:t>
            </a:r>
            <a:r>
              <a:rPr lang="en-US" altLang="ko-KR" sz="1600">
                <a:solidFill>
                  <a:srgbClr val="FF0000"/>
                </a:solidFill>
              </a:rPr>
              <a:t>, 0 – </a:t>
            </a:r>
            <a:r>
              <a:rPr lang="ko-KR" altLang="en-US" sz="1600">
                <a:solidFill>
                  <a:srgbClr val="FF0000"/>
                </a:solidFill>
              </a:rPr>
              <a:t>서명 오류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221987-CA53-A802-DA2E-64488926E3D0}"/>
              </a:ext>
            </a:extLst>
          </p:cNvPr>
          <p:cNvSpPr txBox="1"/>
          <p:nvPr/>
        </p:nvSpPr>
        <p:spPr>
          <a:xfrm>
            <a:off x="4254488" y="4858984"/>
            <a:ext cx="25980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>
                <a:solidFill>
                  <a:srgbClr val="FF0000"/>
                </a:solidFill>
              </a:rPr>
              <a:t>decrypt()</a:t>
            </a:r>
            <a:r>
              <a:rPr lang="ko-KR" altLang="en-US" sz="1600">
                <a:solidFill>
                  <a:srgbClr val="FF0000"/>
                </a:solidFill>
              </a:rPr>
              <a:t>로 대칭키 복호화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680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835B07-9D87-F808-2813-43D5F1156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Arduino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2EE90A-923C-6410-9126-B95E8267B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DISPLAY </a:t>
            </a:r>
            <a:r>
              <a:rPr lang="ko-KR" altLang="en-US"/>
              <a:t>출력 예시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287CCA-C733-42B0-128F-7C0096660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904" y="1746034"/>
            <a:ext cx="5585084" cy="132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140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4D8CD-151A-310A-D9D2-6BC1718AC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OP-TEE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656172-99B5-CE99-C9D5-42FE24DB1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Orin</a:t>
            </a:r>
            <a:r>
              <a:rPr lang="ko-KR" altLang="en-US"/>
              <a:t> </a:t>
            </a:r>
            <a:r>
              <a:rPr lang="en-US" altLang="ko-KR"/>
              <a:t>Nano</a:t>
            </a:r>
          </a:p>
          <a:p>
            <a:pPr lvl="1"/>
            <a:r>
              <a:rPr lang="en-US" altLang="ko-KR"/>
              <a:t>preprocess()</a:t>
            </a:r>
            <a:r>
              <a:rPr lang="ko-KR" altLang="en-US"/>
              <a:t>에서 아래 기능 수행</a:t>
            </a:r>
            <a:endParaRPr lang="en-US" altLang="ko-KR"/>
          </a:p>
          <a:p>
            <a:pPr lvl="2"/>
            <a:r>
              <a:rPr lang="en-US" altLang="ko-KR" b="0">
                <a:effectLst/>
                <a:latin typeface="Consolas" panose="020B0609020204030204" pitchFamily="49" charset="0"/>
              </a:rPr>
              <a:t>set_whitelist</a:t>
            </a:r>
          </a:p>
          <a:p>
            <a:pPr lvl="2"/>
            <a:r>
              <a:rPr lang="en-US" altLang="ko-KR" b="0">
                <a:effectLst/>
                <a:latin typeface="Consolas" panose="020B0609020204030204" pitchFamily="49" charset="0"/>
              </a:rPr>
              <a:t>set_priv_key</a:t>
            </a:r>
          </a:p>
          <a:p>
            <a:pPr lvl="2"/>
            <a:r>
              <a:rPr lang="en-US" altLang="ko-KR" b="0">
                <a:effectLst/>
                <a:latin typeface="Consolas" panose="020B0609020204030204" pitchFamily="49" charset="0"/>
              </a:rPr>
              <a:t>generate_public_key</a:t>
            </a:r>
          </a:p>
          <a:p>
            <a:pPr lvl="1"/>
            <a:r>
              <a:rPr lang="en-US" altLang="ko-KR"/>
              <a:t>process()</a:t>
            </a:r>
            <a:r>
              <a:rPr lang="ko-KR" altLang="en-US"/>
              <a:t>에 제공되는 함수를 적절히 작성해야함</a:t>
            </a:r>
            <a:endParaRPr lang="en-US" altLang="ko-KR"/>
          </a:p>
          <a:p>
            <a:pPr lvl="1"/>
            <a:r>
              <a:rPr lang="ko-KR" altLang="en-US"/>
              <a:t>제공함수</a:t>
            </a:r>
            <a:endParaRPr lang="en-US" altLang="ko-KR"/>
          </a:p>
          <a:p>
            <a:pPr lvl="2"/>
            <a:r>
              <a:rPr lang="en-US" altLang="ko-KR"/>
              <a:t>check_whitelist()</a:t>
            </a:r>
          </a:p>
          <a:p>
            <a:pPr lvl="3"/>
            <a:r>
              <a:rPr lang="en-US" altLang="ko-KR"/>
              <a:t>input</a:t>
            </a:r>
          </a:p>
          <a:p>
            <a:pPr lvl="4"/>
            <a:r>
              <a:rPr lang="en-US" altLang="ko-KR"/>
              <a:t>&amp;sess</a:t>
            </a:r>
          </a:p>
          <a:p>
            <a:pPr lvl="4"/>
            <a:r>
              <a:rPr lang="en-US" altLang="ko-KR"/>
              <a:t>frame.can_id: </a:t>
            </a:r>
            <a:r>
              <a:rPr lang="ko-KR" altLang="en-US"/>
              <a:t>현재 수신된 </a:t>
            </a:r>
            <a:r>
              <a:rPr lang="en-US" altLang="ko-KR"/>
              <a:t>can msg</a:t>
            </a:r>
            <a:r>
              <a:rPr lang="ko-KR" altLang="en-US"/>
              <a:t>의 </a:t>
            </a:r>
            <a:r>
              <a:rPr lang="en-US" altLang="ko-KR"/>
              <a:t>id. </a:t>
            </a:r>
            <a:r>
              <a:rPr lang="ko-KR" altLang="en-US"/>
              <a:t>이 값이 화이트리스트에 저장된 값과 같은지 확인</a:t>
            </a:r>
            <a:endParaRPr lang="en-US" altLang="ko-KR"/>
          </a:p>
          <a:p>
            <a:pPr lvl="3"/>
            <a:r>
              <a:rPr lang="en-US" altLang="ko-KR"/>
              <a:t>output</a:t>
            </a:r>
          </a:p>
          <a:p>
            <a:pPr lvl="4"/>
            <a:r>
              <a:rPr lang="en-US" altLang="ko-KR"/>
              <a:t>1: valid can_id</a:t>
            </a:r>
          </a:p>
          <a:p>
            <a:pPr lvl="4"/>
            <a:r>
              <a:rPr lang="en-US" altLang="ko-KR"/>
              <a:t>0: invalid can_id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9327CE-EF6D-C4E5-2650-828757A962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632"/>
          <a:stretch/>
        </p:blipFill>
        <p:spPr>
          <a:xfrm>
            <a:off x="2285221" y="6165909"/>
            <a:ext cx="7621557" cy="47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999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86D44-BF95-876D-8FB8-BFCDDF977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9FECE6-9E00-CC7E-2F65-52C5C5CFA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OP-TEE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F4ED4B-00E1-58CB-DD95-20023B76A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제공함수</a:t>
            </a:r>
            <a:endParaRPr lang="en-US" altLang="ko-KR"/>
          </a:p>
          <a:p>
            <a:pPr lvl="1"/>
            <a:r>
              <a:rPr lang="en-US" altLang="ko-KR" b="0">
                <a:effectLst/>
                <a:latin typeface="Consolas" panose="020B0609020204030204" pitchFamily="49" charset="0"/>
              </a:rPr>
              <a:t>micro_sign</a:t>
            </a:r>
            <a:r>
              <a:rPr lang="en-US" altLang="ko-KR"/>
              <a:t>()</a:t>
            </a:r>
          </a:p>
          <a:p>
            <a:pPr lvl="2"/>
            <a:r>
              <a:rPr lang="en-US" altLang="ko-KR"/>
              <a:t>input</a:t>
            </a:r>
          </a:p>
          <a:p>
            <a:pPr lvl="3"/>
            <a:r>
              <a:rPr lang="en-US" altLang="ko-KR"/>
              <a:t>&amp;sess</a:t>
            </a:r>
          </a:p>
          <a:p>
            <a:pPr lvl="3"/>
            <a:r>
              <a:rPr lang="en-US" altLang="ko-KR"/>
              <a:t>buffer: frame.data</a:t>
            </a:r>
            <a:r>
              <a:rPr lang="ko-KR" altLang="en-US"/>
              <a:t>의 앞 </a:t>
            </a:r>
            <a:r>
              <a:rPr lang="en-US" altLang="ko-KR"/>
              <a:t>5</a:t>
            </a:r>
            <a:r>
              <a:rPr lang="ko-KR" altLang="en-US"/>
              <a:t>바이트</a:t>
            </a:r>
            <a:endParaRPr lang="en-US" altLang="ko-KR"/>
          </a:p>
          <a:p>
            <a:pPr lvl="3"/>
            <a:r>
              <a:rPr lang="en-US" altLang="ko-KR"/>
              <a:t>signature: </a:t>
            </a:r>
            <a:r>
              <a:rPr lang="ko-KR" altLang="en-US"/>
              <a:t>생성된 서명이 저장된 공간</a:t>
            </a:r>
            <a:endParaRPr lang="en-US" altLang="ko-KR"/>
          </a:p>
          <a:p>
            <a:pPr lvl="3"/>
            <a:endParaRPr lang="en-US" altLang="ko-KR"/>
          </a:p>
          <a:p>
            <a:pPr lvl="2"/>
            <a:r>
              <a:rPr lang="ko-KR" altLang="en-US"/>
              <a:t>사용예시</a:t>
            </a:r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BBFFA2-E541-E0DE-E844-0C7EDF447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832" y="3207590"/>
            <a:ext cx="7835559" cy="31080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FA5879-564C-7D4C-78D7-3DD16666BB7D}"/>
              </a:ext>
            </a:extLst>
          </p:cNvPr>
          <p:cNvSpPr txBox="1"/>
          <p:nvPr/>
        </p:nvSpPr>
        <p:spPr>
          <a:xfrm>
            <a:off x="3049172" y="3240817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08447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024A5-4A26-252A-B877-97061E0D4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OP-TEE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E8E4A9-8CFC-4846-02DB-B1D6B8FF8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제공함수</a:t>
            </a:r>
            <a:endParaRPr lang="en-US" altLang="ko-KR"/>
          </a:p>
          <a:p>
            <a:pPr lvl="1"/>
            <a:r>
              <a:rPr lang="en-US" altLang="ko-KR" b="0">
                <a:effectLst/>
                <a:latin typeface="Consolas" panose="020B0609020204030204" pitchFamily="49" charset="0"/>
              </a:rPr>
              <a:t>write_port</a:t>
            </a:r>
          </a:p>
          <a:p>
            <a:pPr lvl="2"/>
            <a:r>
              <a:rPr lang="en-US" altLang="ko-KR"/>
              <a:t>input</a:t>
            </a:r>
          </a:p>
          <a:p>
            <a:pPr lvl="3"/>
            <a:r>
              <a:rPr lang="en-US" altLang="ko-KR"/>
              <a:t>{can_id}: </a:t>
            </a:r>
            <a:r>
              <a:rPr lang="ko-KR" altLang="en-US"/>
              <a:t>새로 전송할 </a:t>
            </a:r>
            <a:r>
              <a:rPr lang="en-US" altLang="ko-KR"/>
              <a:t>can id. ex) 0x456</a:t>
            </a:r>
          </a:p>
          <a:p>
            <a:pPr lvl="3"/>
            <a:r>
              <a:rPr lang="en-US" altLang="ko-KR"/>
              <a:t>frame</a:t>
            </a:r>
          </a:p>
          <a:p>
            <a:pPr lvl="3"/>
            <a:r>
              <a:rPr lang="en-US" altLang="ko-KR"/>
              <a:t>signature</a:t>
            </a:r>
          </a:p>
          <a:p>
            <a:pPr lvl="2"/>
            <a:r>
              <a:rPr lang="en-US" altLang="ko-KR"/>
              <a:t> </a:t>
            </a:r>
            <a:r>
              <a:rPr lang="ko-KR" altLang="en-US"/>
              <a:t>사용예시</a:t>
            </a:r>
            <a:endParaRPr lang="en-US" altLang="ko-KR"/>
          </a:p>
          <a:p>
            <a:pPr lvl="2"/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B0C7F7-1DE4-8960-9433-B42151146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355" y="3006237"/>
            <a:ext cx="6491215" cy="203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84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FC01-7357-462F-ABD9-8DC07DD1F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OP-TEE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97DEED-71E0-4AC3-B784-D2DDC3504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test.c</a:t>
            </a:r>
            <a:r>
              <a:rPr lang="en-US" altLang="ko-KR" dirty="0"/>
              <a:t>, </a:t>
            </a:r>
            <a:r>
              <a:rPr lang="en-US" altLang="ko-KR" dirty="0" err="1"/>
              <a:t>main.c</a:t>
            </a:r>
            <a:r>
              <a:rPr lang="en-US" altLang="ko-KR" dirty="0"/>
              <a:t> </a:t>
            </a:r>
            <a:r>
              <a:rPr lang="ko-KR" altLang="en-US" dirty="0"/>
              <a:t>컴파일</a:t>
            </a:r>
            <a:r>
              <a:rPr lang="en-US" altLang="ko-KR" dirty="0"/>
              <a:t>, </a:t>
            </a:r>
            <a:r>
              <a:rPr lang="ko-KR" altLang="en-US" dirty="0"/>
              <a:t>실행하는 법</a:t>
            </a:r>
            <a:endParaRPr lang="en-US" altLang="ko-KR" dirty="0"/>
          </a:p>
          <a:p>
            <a:pPr lvl="1"/>
            <a:r>
              <a:rPr lang="en-US" altLang="ko-KR" dirty="0"/>
              <a:t>Host/</a:t>
            </a:r>
            <a:r>
              <a:rPr lang="en-US" altLang="ko-KR" dirty="0" err="1"/>
              <a:t>Makefile</a:t>
            </a:r>
            <a:endParaRPr lang="en-US" altLang="ko-KR" dirty="0"/>
          </a:p>
          <a:p>
            <a:pPr lvl="2"/>
            <a:r>
              <a:rPr lang="en-US" altLang="ko-KR" dirty="0"/>
              <a:t>Line 7: </a:t>
            </a:r>
            <a:r>
              <a:rPr lang="en-US" altLang="ko-KR" dirty="0" err="1"/>
              <a:t>main.c</a:t>
            </a:r>
            <a:r>
              <a:rPr lang="en-US" altLang="ko-KR" dirty="0"/>
              <a:t> / </a:t>
            </a:r>
            <a:r>
              <a:rPr lang="en-US" altLang="ko-KR" dirty="0" err="1"/>
              <a:t>test.c</a:t>
            </a:r>
            <a:endParaRPr lang="en-US" altLang="ko-KR" dirty="0"/>
          </a:p>
          <a:p>
            <a:pPr lvl="2"/>
            <a:r>
              <a:rPr lang="en-US" altLang="ko-KR" dirty="0"/>
              <a:t>Line 11: </a:t>
            </a:r>
            <a:r>
              <a:rPr lang="en-US" altLang="ko-KR" dirty="0" err="1"/>
              <a:t>main.o</a:t>
            </a:r>
            <a:r>
              <a:rPr lang="en-US" altLang="ko-KR" dirty="0"/>
              <a:t> / </a:t>
            </a:r>
            <a:r>
              <a:rPr lang="en-US" altLang="ko-KR" dirty="0" err="1"/>
              <a:t>test.o</a:t>
            </a:r>
            <a:endParaRPr lang="en-US" altLang="ko-KR" dirty="0"/>
          </a:p>
          <a:p>
            <a:pPr lvl="2"/>
            <a:r>
              <a:rPr lang="en-US" altLang="ko-KR" dirty="0"/>
              <a:t>Line 13: main / test</a:t>
            </a:r>
          </a:p>
          <a:p>
            <a:pPr marL="457200" lvl="1" indent="0">
              <a:buNone/>
            </a:pPr>
            <a:r>
              <a:rPr lang="en-US" altLang="ko-KR" dirty="0"/>
              <a:t>$ cd L10.Final_Project/</a:t>
            </a:r>
          </a:p>
          <a:p>
            <a:pPr marL="457200" lvl="1" indent="0">
              <a:buNone/>
            </a:pPr>
            <a:r>
              <a:rPr lang="en-US" altLang="ko-KR" dirty="0"/>
              <a:t>$ make</a:t>
            </a:r>
          </a:p>
          <a:p>
            <a:pPr marL="457200" lvl="1" indent="0">
              <a:buNone/>
            </a:pPr>
            <a:r>
              <a:rPr lang="en-US" altLang="ko-KR" dirty="0"/>
              <a:t>$ make install</a:t>
            </a:r>
          </a:p>
          <a:p>
            <a:pPr marL="457200" lvl="1" indent="0">
              <a:buNone/>
            </a:pPr>
            <a:r>
              <a:rPr lang="en-US" altLang="ko-KR" dirty="0"/>
              <a:t>$ </a:t>
            </a:r>
            <a:r>
              <a:rPr lang="en-US" altLang="ko-KR" dirty="0" err="1"/>
              <a:t>sudo</a:t>
            </a:r>
            <a:r>
              <a:rPr lang="en-US" altLang="ko-KR" dirty="0"/>
              <a:t> main (</a:t>
            </a:r>
            <a:r>
              <a:rPr lang="en-US" altLang="ko-KR" dirty="0" err="1"/>
              <a:t>sudo</a:t>
            </a:r>
            <a:r>
              <a:rPr lang="en-US" altLang="ko-KR" dirty="0"/>
              <a:t> test)</a:t>
            </a:r>
          </a:p>
          <a:p>
            <a:pPr marL="4572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21214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2D812E-3A63-39BF-3718-2235BD794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OP-TEE</a:t>
            </a:r>
            <a:r>
              <a:rPr lang="ko-KR" altLang="en-US"/>
              <a:t> 가이드라인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AF6FC-E660-98BD-9E38-9E5332806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출력 결과</a:t>
            </a:r>
            <a:endParaRPr lang="en-US" altLang="ko-KR"/>
          </a:p>
          <a:p>
            <a:pPr lvl="1"/>
            <a:r>
              <a:rPr lang="en-US" altLang="ko-KR"/>
              <a:t>Node 1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en-US" altLang="ko-KR"/>
              <a:t>OP-TEE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en-US" altLang="ko-KR"/>
              <a:t>Node 2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194EF9-C8F7-E69B-5A8D-029859467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953" y="2720514"/>
            <a:ext cx="5108320" cy="217007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B365225-6860-CEAC-C0DE-86F9D6290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953" y="1602434"/>
            <a:ext cx="6404501" cy="97623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6CE996C-798E-533E-F343-8681C2CBE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953" y="5181640"/>
            <a:ext cx="5585084" cy="13207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1D96FE9-7DC6-2F5E-AEF3-EF1B5A6CBAD9}"/>
              </a:ext>
            </a:extLst>
          </p:cNvPr>
          <p:cNvSpPr/>
          <p:nvPr/>
        </p:nvSpPr>
        <p:spPr>
          <a:xfrm>
            <a:off x="2980007" y="1805022"/>
            <a:ext cx="3115993" cy="262929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9C07777-ACD3-7DA7-54EB-A93F274DAABD}"/>
              </a:ext>
            </a:extLst>
          </p:cNvPr>
          <p:cNvSpPr/>
          <p:nvPr/>
        </p:nvSpPr>
        <p:spPr>
          <a:xfrm>
            <a:off x="2980007" y="6230950"/>
            <a:ext cx="3237914" cy="325040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95778E-8B07-E4B5-E276-748548F0AF54}"/>
              </a:ext>
            </a:extLst>
          </p:cNvPr>
          <p:cNvSpPr/>
          <p:nvPr/>
        </p:nvSpPr>
        <p:spPr>
          <a:xfrm>
            <a:off x="2980006" y="2082011"/>
            <a:ext cx="3378591" cy="2769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D8BB59-24AB-2206-6138-27A61F65805A}"/>
              </a:ext>
            </a:extLst>
          </p:cNvPr>
          <p:cNvSpPr/>
          <p:nvPr/>
        </p:nvSpPr>
        <p:spPr>
          <a:xfrm>
            <a:off x="2330953" y="3398521"/>
            <a:ext cx="4998315" cy="2294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92AFF9D-704E-54B4-861C-FD29E092D5C3}"/>
              </a:ext>
            </a:extLst>
          </p:cNvPr>
          <p:cNvSpPr/>
          <p:nvPr/>
        </p:nvSpPr>
        <p:spPr>
          <a:xfrm>
            <a:off x="2330952" y="4116788"/>
            <a:ext cx="3092531" cy="2620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284B01F-AAA4-62BB-8BA0-80FE1D695200}"/>
              </a:ext>
            </a:extLst>
          </p:cNvPr>
          <p:cNvSpPr/>
          <p:nvPr/>
        </p:nvSpPr>
        <p:spPr>
          <a:xfrm>
            <a:off x="2330954" y="4628555"/>
            <a:ext cx="1819016" cy="262035"/>
          </a:xfrm>
          <a:prstGeom prst="rect">
            <a:avLst/>
          </a:prstGeom>
          <a:noFill/>
          <a:ln w="38100">
            <a:solidFill>
              <a:srgbClr val="78BE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BE125B0-8B88-D07A-6B07-42E21D511B55}"/>
              </a:ext>
            </a:extLst>
          </p:cNvPr>
          <p:cNvSpPr/>
          <p:nvPr/>
        </p:nvSpPr>
        <p:spPr>
          <a:xfrm>
            <a:off x="6157732" y="5181640"/>
            <a:ext cx="1463666" cy="225065"/>
          </a:xfrm>
          <a:prstGeom prst="rect">
            <a:avLst/>
          </a:prstGeom>
          <a:noFill/>
          <a:ln w="38100">
            <a:solidFill>
              <a:srgbClr val="78BE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CD735F-B8F1-1110-00F9-C7F41C81D3D1}"/>
              </a:ext>
            </a:extLst>
          </p:cNvPr>
          <p:cNvSpPr/>
          <p:nvPr/>
        </p:nvSpPr>
        <p:spPr>
          <a:xfrm>
            <a:off x="3720729" y="5181640"/>
            <a:ext cx="2375272" cy="2250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DB2F300-0FEF-D9BD-DC8C-050651E943AF}"/>
              </a:ext>
            </a:extLst>
          </p:cNvPr>
          <p:cNvSpPr/>
          <p:nvPr/>
        </p:nvSpPr>
        <p:spPr>
          <a:xfrm>
            <a:off x="4669301" y="5714835"/>
            <a:ext cx="1156853" cy="225065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0D8CBC7-87DA-73CB-D9A1-4E654748A526}"/>
              </a:ext>
            </a:extLst>
          </p:cNvPr>
          <p:cNvSpPr/>
          <p:nvPr/>
        </p:nvSpPr>
        <p:spPr>
          <a:xfrm>
            <a:off x="4669301" y="5976569"/>
            <a:ext cx="1156853" cy="225065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681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600" dirty="0" smtClean="0">
            <a:solidFill>
              <a:srgbClr val="FF0000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21576</TotalTime>
  <Words>387</Words>
  <Application>Microsoft Office PowerPoint</Application>
  <PresentationFormat>와이드스크린</PresentationFormat>
  <Paragraphs>90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Consolas</vt:lpstr>
      <vt:lpstr>Tahoma</vt:lpstr>
      <vt:lpstr>Office 테마</vt:lpstr>
      <vt:lpstr>Computing Platform for Autonomous Driving (CP4AD)</vt:lpstr>
      <vt:lpstr>수정사항</vt:lpstr>
      <vt:lpstr>Arduino</vt:lpstr>
      <vt:lpstr>Arduino</vt:lpstr>
      <vt:lpstr>Arduino</vt:lpstr>
      <vt:lpstr>Arduino</vt:lpstr>
      <vt:lpstr>Arduino</vt:lpstr>
      <vt:lpstr>OP-TEE</vt:lpstr>
      <vt:lpstr>OP-TEE</vt:lpstr>
      <vt:lpstr>OP-TEE</vt:lpstr>
      <vt:lpstr>OP-TEE</vt:lpstr>
      <vt:lpstr>OP-TEE 가이드라인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차세대 DCU 아키텍처</dc:title>
  <dc:creator>jongchank</dc:creator>
  <cp:lastModifiedBy>user</cp:lastModifiedBy>
  <cp:revision>59</cp:revision>
  <cp:lastPrinted>2024-04-30T05:31:44Z</cp:lastPrinted>
  <dcterms:created xsi:type="dcterms:W3CDTF">2018-03-06T00:24:46Z</dcterms:created>
  <dcterms:modified xsi:type="dcterms:W3CDTF">2025-05-27T08:18:44Z</dcterms:modified>
</cp:coreProperties>
</file>